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8"/>
  </p:normalViewPr>
  <p:slideViewPr>
    <p:cSldViewPr snapToGrid="0" snapToObjects="1">
      <p:cViewPr varScale="1">
        <p:scale>
          <a:sx n="116" d="100"/>
          <a:sy n="116" d="100"/>
        </p:scale>
        <p:origin x="6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ene_village_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3588" y="0"/>
            <a:ext cx="13716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671" y="1041810"/>
            <a:ext cx="5458742" cy="3868298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2377440" cy="3474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LANGUAGE LEARNING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671" y="15085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</a:rPr>
              <a:t>LuxLingo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56432"/>
            <a:ext cx="54086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2200" b="0" i="0" dirty="0">
                <a:solidFill>
                  <a:srgbClr val="CBD5E1"/>
                </a:solidFill>
              </a:rPr>
              <a:t>A</a:t>
            </a:r>
            <a:r>
              <a:rPr sz="2200" b="0" i="0" dirty="0">
                <a:solidFill>
                  <a:srgbClr val="CBD5E1"/>
                </a:solidFill>
              </a:rPr>
              <a:t>pp</a:t>
            </a:r>
            <a:r>
              <a:rPr lang="de-DE" sz="2200" b="0" i="0" dirty="0">
                <a:solidFill>
                  <a:srgbClr val="CBD5E1"/>
                </a:solidFill>
              </a:rPr>
              <a:t> </a:t>
            </a:r>
            <a:r>
              <a:rPr sz="2200" b="0" i="0" dirty="0">
                <a:solidFill>
                  <a:srgbClr val="CBD5E1"/>
                </a:solidFill>
              </a:rPr>
              <a:t>for learning Luxembourgish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3756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6177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CA3AF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</a:rPr>
              <a:t>Today's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The gap in Luxembourgish language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47672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The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214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Features, exercises and learning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060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3405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3405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614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Luxembourg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797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Government &amp; university APIs powering LuxLingo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64408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3924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924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419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How It Was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38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Content pipeline, architecture and data quality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22776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0507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507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782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Impact &amp; The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0965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Potential reach and how ZLS can help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81144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60152" y="6355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CA3AF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ene_village_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0522"/>
            <a:ext cx="6153912" cy="30769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ene_village_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913" y="1879092"/>
            <a:ext cx="6153912" cy="30769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0"/>
            <a:ext cx="457200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48640"/>
            <a:ext cx="1828800" cy="3474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94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 language spoken
by 400,000 people —
with no modern
learning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50292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400K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native speakers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661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251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Duolingo-level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661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12,000+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newcomers/year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5604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Luxembourg's integration policy requires newcomers to learn Lëtzebuergesch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589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Existing tools are textbook-heavy, expensive or aimed at German speakers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6188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85216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No app comparable to Duolingo or Babbel exists for Luxembourgish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8229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</a:rPr>
              <a:t>Everything a learner needs.
Built for Luxembourg.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3566160" cy="4206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3566160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172A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Science-Backed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703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Spaced repetition surfaces words just before you forget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159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Zipf's Law ensures the 700 most-used words come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9145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Mastery score (0–20) determines which exercise fires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6694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Progress chart shows real coverage of everyday speech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331720"/>
            <a:ext cx="3566160" cy="4206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233172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172A"/>
                </a:solidFill>
              </a:rPr>
              <a:t>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21868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Genuinely Engaging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703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38404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10 distinct exercise types — variety prevents boredom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3159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XP points, streaks and lesson celebrations reward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79145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Consistent story characters make sentences memorable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26694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Lessons average 5–7 minutes — fits any 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331720"/>
            <a:ext cx="3566160" cy="4206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2331720"/>
            <a:ext cx="35661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2560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F172A"/>
                </a:solidFill>
              </a:rPr>
              <a:t>🇱🇺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1868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Authentically Luxembourgish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703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49640" y="38404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Powered exclusively by Luxembourg government &amp; uni 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3159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Native speaker audio from LOD.lu for every 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79145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Neural TTS from Sproochmaschinn.lu for all sentences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26694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— Pronunciation scored by LuxASR (Uni Luxembourg)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9728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Clean, structured, motivating.</a:t>
            </a:r>
          </a:p>
        </p:txBody>
      </p:sp>
      <p:pic>
        <p:nvPicPr>
          <p:cNvPr id="6" name="Picture 5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815" y="411480"/>
            <a:ext cx="2775842" cy="6035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4812" y="160020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1972" y="16916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XP · Streak ·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972" y="202082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74151"/>
                </a:solidFill>
              </a:rPr>
              <a:t>Progress at a glance — always visible at the top of the home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812" y="256032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1972" y="26517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Smart Review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972" y="298094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Surfaces words approaching forgetting before the next session begins.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812" y="352044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1972" y="36118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Unit Scene Banners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972" y="394106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Each unit opens with an illustrated Luxembourgish scene as visual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812" y="448056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972" y="45720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Situational Bonus Lessons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972" y="490118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Market, café, doctor's — unlocked after completing each unit.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812" y="544068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1972" y="55321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Lesson Mastery 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972" y="586130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Shows how many of the 7 core words per lesson have been mastered.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812" y="640080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en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96262"/>
            <a:ext cx="5330952" cy="26654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en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96262"/>
            <a:ext cx="5330952" cy="26654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0"/>
            <a:ext cx="457200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02920"/>
            <a:ext cx="1737360" cy="3474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EXERCISE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10 ways to learn.
Every word, every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927" y="24188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🃏  Flashcard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6255" y="24645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CA3AF"/>
                </a:solidFill>
              </a:rPr>
              <a:t>Introduction with image, audio</a:t>
            </a:r>
            <a:r>
              <a:rPr lang="de-DE" sz="1100" b="0" i="0" dirty="0">
                <a:solidFill>
                  <a:srgbClr val="9CA3AF"/>
                </a:solidFill>
              </a:rPr>
              <a:t>,</a:t>
            </a:r>
            <a:r>
              <a:rPr sz="1100" b="0" i="0" dirty="0">
                <a:solidFill>
                  <a:srgbClr val="9CA3AF"/>
                </a:solidFill>
              </a:rPr>
              <a:t>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1327" y="24188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📝  Fill in the Blank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6655" y="2409500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CA3AF"/>
                </a:solidFill>
              </a:rPr>
              <a:t>Cloze — type the missing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927" y="28760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🔤  Multiple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6255" y="2921785"/>
            <a:ext cx="156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CA3AF"/>
                </a:solidFill>
              </a:rPr>
              <a:t>Choose from 4 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1327" y="28760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🔀  Word Jumble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655" y="29217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Rearrange tokens in LB or 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927" y="33332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🧩  Matching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6255" y="3323900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CA3AF"/>
                </a:solidFill>
              </a:rPr>
              <a:t>Drag LB words to EN translations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1327" y="33332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🏃  Speed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6655" y="33789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True / false rapid-fire drill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927" y="37904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🎧  Listen &amp;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6255" y="38361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Hear and transcribe a 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1327" y="37904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🔡  Conjugation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6655" y="38361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Pick the correct verb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927" y="42476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📖  Article 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6255" y="4293385"/>
            <a:ext cx="156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 · den · dem · d'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1327" y="4247665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🎤  Pronunciation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6655" y="4293385"/>
            <a:ext cx="1569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Record &amp; score via LuxASR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Exercise type scales with mastery level — harder exercises unlock as the learner improves.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Set across Luxembourg.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CA3AF"/>
                </a:solidFill>
              </a:rPr>
              <a:t>Every unit illustrated with a hand-crafted scene from a real Luxembourgish setting.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" y="1234440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ene_villag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1833372"/>
            <a:ext cx="2999232" cy="1499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" y="3547872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" y="3566160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Village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2384" y="1234440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ene_cafe_bak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833372"/>
            <a:ext cx="2999232" cy="14996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72384" y="3547872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2112" y="3566160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Café &amp; Bakery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234440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cene_train_s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833372"/>
            <a:ext cx="2999232" cy="14996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08192" y="3547872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 Station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34440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cene_doctors_off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833372"/>
            <a:ext cx="2999232" cy="14996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144000" y="3547872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3728" y="3566160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Doctor's Office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" y="4005072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ene_school_mo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" y="4604004"/>
            <a:ext cx="2999232" cy="14996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6576" y="6318504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" y="63367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School Morning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72384" y="4005072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cene_village_ri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384" y="4604004"/>
            <a:ext cx="2999232" cy="149961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072384" y="6318504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82112" y="6336792"/>
            <a:ext cx="28163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Village </a:t>
            </a:r>
            <a:r>
              <a:rPr lang="de-DE" sz="1300" b="1" dirty="0" err="1">
                <a:solidFill>
                  <a:srgbClr val="FFFFFF"/>
                </a:solidFill>
              </a:rPr>
              <a:t>Centre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8192" y="4005072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cene_libr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4604004"/>
            <a:ext cx="2999232" cy="149961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108192" y="6318504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63367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005072"/>
            <a:ext cx="2999232" cy="2697480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scene_cycling_pa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4604004"/>
            <a:ext cx="2999232" cy="149961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144000" y="6318504"/>
            <a:ext cx="299923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53728" y="63367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Cycling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09728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998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F172A"/>
                </a:solidFill>
              </a:rPr>
              <a:t>A cast of characters that bring</a:t>
            </a:r>
            <a:r>
              <a:rPr lang="de-DE" sz="3600" b="1" i="0" dirty="0">
                <a:solidFill>
                  <a:srgbClr val="0F172A"/>
                </a:solidFill>
              </a:rPr>
              <a:t> </a:t>
            </a:r>
            <a:r>
              <a:rPr sz="3600" b="1" i="0" dirty="0">
                <a:solidFill>
                  <a:srgbClr val="0F172A"/>
                </a:solidFill>
              </a:rPr>
              <a:t>Luxembourg to life.</a:t>
            </a:r>
          </a:p>
        </p:txBody>
      </p:sp>
      <p:pic>
        <p:nvPicPr>
          <p:cNvPr id="6" name="Picture 5" descr="character_marc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486052"/>
            <a:ext cx="2075027" cy="20750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1920" y="3610458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920" y="3588513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F172A"/>
                </a:solidFill>
              </a:rPr>
              <a:t>Marc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" y="3926841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74151"/>
                </a:solidFill>
              </a:rPr>
              <a:t>Teenager</a:t>
            </a:r>
          </a:p>
        </p:txBody>
      </p:sp>
      <p:pic>
        <p:nvPicPr>
          <p:cNvPr id="10" name="Picture 9" descr="character_anna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52" y="1486052"/>
            <a:ext cx="2075027" cy="20750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33752" y="3610458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3752" y="3588513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Anna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3752" y="3926841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Animal lover</a:t>
            </a:r>
          </a:p>
        </p:txBody>
      </p:sp>
      <p:pic>
        <p:nvPicPr>
          <p:cNvPr id="14" name="Picture 13" descr="character_paul@2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584" y="1486052"/>
            <a:ext cx="2075027" cy="207502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45584" y="3610458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5584" y="3588513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Paul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584" y="3926841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Schoolboy</a:t>
            </a:r>
          </a:p>
        </p:txBody>
      </p:sp>
      <p:pic>
        <p:nvPicPr>
          <p:cNvPr id="18" name="Picture 17" descr="character_lena@2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816" y="1486052"/>
            <a:ext cx="2075027" cy="207502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82816" y="3610458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2816" y="3588513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Lena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2816" y="3926841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Marc's friend</a:t>
            </a:r>
          </a:p>
        </p:txBody>
      </p:sp>
      <p:pic>
        <p:nvPicPr>
          <p:cNvPr id="22" name="Picture 21" descr="character_claire@2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25" y="4140212"/>
            <a:ext cx="2075027" cy="207502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58725" y="6264618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8725" y="6242673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Claire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25" y="6581001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Bookworm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B1B172-DC67-C57B-B852-AC265ED0CDA8}"/>
              </a:ext>
            </a:extLst>
          </p:cNvPr>
          <p:cNvGrpSpPr/>
          <p:nvPr/>
        </p:nvGrpSpPr>
        <p:grpSpPr>
          <a:xfrm>
            <a:off x="4504397" y="4140212"/>
            <a:ext cx="4261459" cy="2717788"/>
            <a:chOff x="8977256" y="4140212"/>
            <a:chExt cx="4261459" cy="2717788"/>
          </a:xfrm>
        </p:grpSpPr>
        <p:pic>
          <p:nvPicPr>
            <p:cNvPr id="26" name="Picture 25" descr="character_mr_weiss@2x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77256" y="4140212"/>
              <a:ext cx="2075027" cy="2075027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8977256" y="6264618"/>
              <a:ext cx="2075027" cy="51206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977256" y="6242673"/>
              <a:ext cx="20750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0F172A"/>
                  </a:solidFill>
                </a:rPr>
                <a:t>Mr Weiss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77256" y="6581001"/>
              <a:ext cx="20750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374151"/>
                  </a:solidFill>
                </a:rPr>
                <a:t>The teacher</a:t>
              </a:r>
            </a:p>
          </p:txBody>
        </p:sp>
        <p:pic>
          <p:nvPicPr>
            <p:cNvPr id="30" name="Picture 29" descr="character_bello@2x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63688" y="4140212"/>
              <a:ext cx="2075027" cy="2075027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11163688" y="6264618"/>
              <a:ext cx="2075027" cy="51206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163688" y="6242673"/>
              <a:ext cx="20750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0F172A"/>
                  </a:solidFill>
                </a:rPr>
                <a:t>Bello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163688" y="6581001"/>
              <a:ext cx="20750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0" i="0">
                  <a:solidFill>
                    <a:srgbClr val="374151"/>
                  </a:solidFill>
                </a:rPr>
                <a:t>The dog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283853" y="5440617"/>
            <a:ext cx="28698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9CA3AF"/>
                </a:solidFill>
              </a:rPr>
              <a:t>Every example sentence features these characters — making vocabulary feel contextual and memorable across all 140+ lessons.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F6F157-9E72-86AD-04D4-5F33E869D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9742" y="4140212"/>
            <a:ext cx="2075027" cy="207502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8259D49-E9B4-854A-68CE-960853BBB43E}"/>
              </a:ext>
            </a:extLst>
          </p:cNvPr>
          <p:cNvSpPr/>
          <p:nvPr/>
        </p:nvSpPr>
        <p:spPr>
          <a:xfrm>
            <a:off x="2348336" y="6262781"/>
            <a:ext cx="2075027" cy="5120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115F90-8967-B83A-F02B-19C8E1DD45D2}"/>
              </a:ext>
            </a:extLst>
          </p:cNvPr>
          <p:cNvSpPr txBox="1"/>
          <p:nvPr/>
        </p:nvSpPr>
        <p:spPr>
          <a:xfrm>
            <a:off x="2348336" y="6240836"/>
            <a:ext cx="2075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b="1" i="0" dirty="0">
                <a:solidFill>
                  <a:srgbClr val="0F172A"/>
                </a:solidFill>
              </a:rPr>
              <a:t>Natali</a:t>
            </a:r>
            <a:endParaRPr sz="1400" b="1" i="0" dirty="0">
              <a:solidFill>
                <a:srgbClr val="0F172A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79FEAB-0F27-3A7D-0A55-128100CBC279}"/>
              </a:ext>
            </a:extLst>
          </p:cNvPr>
          <p:cNvSpPr txBox="1"/>
          <p:nvPr/>
        </p:nvSpPr>
        <p:spPr>
          <a:xfrm>
            <a:off x="2348336" y="6579164"/>
            <a:ext cx="2075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 err="1">
                <a:solidFill>
                  <a:srgbClr val="374151"/>
                </a:solidFill>
              </a:rPr>
              <a:t>Curious</a:t>
            </a:r>
            <a:r>
              <a:rPr lang="de-DE" sz="1200" dirty="0">
                <a:solidFill>
                  <a:srgbClr val="374151"/>
                </a:solidFill>
              </a:rPr>
              <a:t> </a:t>
            </a:r>
            <a:r>
              <a:rPr lang="de-DE" sz="1200" dirty="0" err="1">
                <a:solidFill>
                  <a:srgbClr val="374151"/>
                </a:solidFill>
              </a:rPr>
              <a:t>toddler</a:t>
            </a:r>
            <a:endParaRPr sz="1200" b="0" i="0" dirty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en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96262"/>
            <a:ext cx="5330952" cy="26654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en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96262"/>
            <a:ext cx="5330952" cy="26654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0"/>
            <a:ext cx="457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02920"/>
            <a:ext cx="109728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548750"/>
            <a:ext cx="1051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GRAMMAR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0F172A"/>
                </a:solidFill>
              </a:rPr>
              <a:t>Grammar built
into every lesson.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84831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54864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N-Rule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877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Detects when 'den→de' applies before consonants. Teaches the rule in live context — never as isolated memorisation.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72968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401568"/>
            <a:ext cx="54864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Article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de / den / dem / d' — a dedicated exercise type with a grammar-rule hint revealed after each answer.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97096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425696"/>
            <a:ext cx="54864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Verb Conjugation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3600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Paradigm picker covers all 6 persons. A built-in Grammar Guide covers irregular &amp; suppletive verbs.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21224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449824"/>
            <a:ext cx="54864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3126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Contextual Chips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013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When a word changes form in a sentence, a small chip explains why — without interrupting the exercise flow.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245352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ene_sports_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1962"/>
            <a:ext cx="5788152" cy="28940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ene_sports_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1962"/>
            <a:ext cx="5788152" cy="28940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0"/>
            <a:ext cx="457200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02920"/>
            <a:ext cx="1645920" cy="347472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PRONUNCIATION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Hear it. Say it.
Get scored.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Powered by LuxASR — University of Luxembourg's speech recognition engine.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33472"/>
            <a:ext cx="5486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89864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Hear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346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Tap speaker button → native reference audio from LOD.lu plays 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5701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Say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4930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Record yourself — animated amplitude bars give live visual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1538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15137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Play your recording next to the reference before submitting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7375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914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Get scored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8097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LuxASR transcribes audio → Levenshtein distance → 0–100%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53212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498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See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4681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Lesson summary shows all scores: green ≥80%  amber ≥50%  red &lt;50%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2377440" cy="34747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LUXEMBOURG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Built on Luxembourg's
own digital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CA3AF"/>
                </a:solidFill>
              </a:rPr>
              <a:t>Every language technology component is Luxembourgish-built — not a single generic cloud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88136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2743200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LuxASR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Uni Luxembourg · luxasr.uni.lu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87952"/>
            <a:ext cx="2286000" cy="34747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803D"/>
                </a:solidFill>
              </a:rPr>
              <a:t>Automatic Speech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Scores every pronunciation exercise. Trained on native Luxembourgish speech corpora.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69748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2697480"/>
            <a:ext cx="2743200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28163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015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LuxMT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Uni Luxembourg · luxasr.uni.lu/luxmt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187952"/>
            <a:ext cx="2286000" cy="34747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42793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Machine Translation EN ↔ LB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634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Translated 3,000+ example sentences from English to Luxembourgish during content creation.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9748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697480"/>
            <a:ext cx="2743200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8163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015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LOD.lu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Lëtzebuerger Online Dictionnaire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187952"/>
            <a:ext cx="2286000" cy="34747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2793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Official Luxembourg Dictionary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In-app word lookup on tap. Native speaker AAC audio for every vocabulary word.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69748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81160" y="2697480"/>
            <a:ext cx="2743200" cy="50292"/>
          </a:xfrm>
          <a:prstGeom prst="rect">
            <a:avLst/>
          </a:prstGeom>
          <a:solidFill>
            <a:srgbClr val="551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0" y="28163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4015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Sproochmaschinn.lu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Luxembourg Government · SCRIPT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187952"/>
            <a:ext cx="2286000" cy="34747"/>
          </a:xfrm>
          <a:prstGeom prst="rect">
            <a:avLst/>
          </a:prstGeom>
          <a:solidFill>
            <a:srgbClr val="162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42793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177A"/>
                </a:solidFill>
              </a:rPr>
              <a:t>Neural Text-to-Speech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6634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High-quality Luxembourgish voice for every sentence read aloud during exercises.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92024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HOW IT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</a:rPr>
              <a:t>3,000+ sentences. Built with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103120" cy="4160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2103120" cy="457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03D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41448"/>
            <a:ext cx="1783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Frequency
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3108960"/>
            <a:ext cx="1737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246120"/>
            <a:ext cx="1783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Luxembourgish corpus
frequency ranking
→ 700 words by
Zipf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3520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691640"/>
            <a:ext cx="2103120" cy="4160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691640"/>
            <a:ext cx="210312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44368" y="1856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441448"/>
            <a:ext cx="1783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Curriculum
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108960"/>
            <a:ext cx="1737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44368" y="3246120"/>
            <a:ext cx="1783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Words grouped into
140+ thematic lessons
across 20 units
by frequency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520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1691640"/>
            <a:ext cx="2103120" cy="4160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74920" y="1691640"/>
            <a:ext cx="2103120" cy="45720"/>
          </a:xfrm>
          <a:prstGeom prst="rect">
            <a:avLst/>
          </a:prstGeom>
          <a:solidFill>
            <a:srgbClr val="551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76088" y="1856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5177A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441448"/>
            <a:ext cx="1783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AI Sentence
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6088" y="3108960"/>
            <a:ext cx="1737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76088" y="3246120"/>
            <a:ext cx="1783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Claude generates
English sentences
with consistent
story characters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520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691640"/>
            <a:ext cx="2103120" cy="4160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1691640"/>
            <a:ext cx="21031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1856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2441448"/>
            <a:ext cx="1783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LuxMT
Translation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07808" y="3108960"/>
            <a:ext cx="1737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07808" y="3246120"/>
            <a:ext cx="1783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EN→LB via LuxMT
(uni.lu) · Batch
processed across
93+ API jobs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3520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1691640"/>
            <a:ext cx="2103120" cy="4160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38360" y="1691640"/>
            <a:ext cx="2103120" cy="457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39528" y="1856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03D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441448"/>
            <a:ext cx="1783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Human Review
&amp; Package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39528" y="3108960"/>
            <a:ext cx="1737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9528" y="3246120"/>
            <a:ext cx="1783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Grammar checks
Cloze index tagging
N-rule annotation
→ initial_seed.json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989320"/>
            <a:ext cx="1133856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60716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74151"/>
                </a:solidFill>
              </a:rPr>
              <a:t>Data quality: 118 cloze-index fixes · 21 translation corrections · 19 n-rule article fixes · 120 verb normalisations — all scripted &amp; version-controlled.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55448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Offline-first. Privacy by design.
Zero third-party dependencies.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84831"/>
            <a:ext cx="1069848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21407"/>
            <a:ext cx="1069848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Views — SwiftUI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94559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ExerciseScreen · HomeScreen · LessonSummaryScreen · GrammarGuide
60fps animations · safeAreaInset footers · declarative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80943"/>
            <a:ext cx="1069848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17519"/>
            <a:ext cx="1069848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7238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ViewModels — @Observable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90671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ExerciseViewModel (10 exercise types, mastery, XP) · MainViewModel (lesson flow)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77055"/>
            <a:ext cx="10698480" cy="36576"/>
          </a:xfrm>
          <a:prstGeom prst="rect">
            <a:avLst/>
          </a:prstGeom>
          <a:solidFill>
            <a:srgbClr val="551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913631"/>
            <a:ext cx="1069848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68495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177A"/>
                </a:solidFill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86783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PronunciationService · TTSService · WordLookupService · AudioFeedbackService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73167"/>
            <a:ext cx="106984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809743"/>
            <a:ext cx="1069848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7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ContentRepository + SwiftData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882895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Sentence selection · distractor pools · 6 SwiftData entity types · automatic migrations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79"/>
            <a:ext cx="10698480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705855"/>
            <a:ext cx="1069848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1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803D"/>
                </a:solidFill>
              </a:rPr>
              <a:t>Data Layer — Bundled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779007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initial_seed.json seeded once on first launch · version-checked on every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65683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Five decisions that shaped the architecture: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223759"/>
            <a:ext cx="5029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7095743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@Observable not ObservableObject — prevents full-screen re-render during 16fps amplitude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7607807"/>
            <a:ext cx="5029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7479791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LazyVGrid not GeometryReader — GeometryReader reports minHeight inside ScrollView, hiding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7991855"/>
            <a:ext cx="5029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7863839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.overlay not ZStack — ZStack breaks UIKit responder chain for UIViewRepresentable text fields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8375903"/>
            <a:ext cx="5029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8247887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activeRecordingURL stored at start — temp directory cleanup makes post-stop URL retrieval unreliable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8759951"/>
            <a:ext cx="5029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8631935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No backend server — all progress on-device, never at risk from outages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11480"/>
            <a:ext cx="192024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IMPACT &amp;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What ZLS support
would make 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93392"/>
            <a:ext cx="5029200" cy="4434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5029200" cy="5486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</a:rP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803D"/>
                </a:solidFill>
              </a:rPr>
              <a:t>12,000+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newcomers receive residency per year
— all required to learn Lëtzebuergesch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38144"/>
            <a:ext cx="43891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803D"/>
                </a:solidFill>
              </a:rPr>
              <a:t>400,000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70332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Luxembourg residents — many seeking
practical everyday language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98264"/>
            <a:ext cx="43891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66344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comparable mobile apps exist
for Luxembourgish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58384"/>
            <a:ext cx="43891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993392"/>
            <a:ext cx="5669280" cy="443484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93392"/>
            <a:ext cx="5669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1214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How ZLS Can Help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7063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6334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Language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Expert review of vocabulary, sentences and grammar exercises to ensure correctness and natural usage.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11296"/>
            <a:ext cx="53035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373075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59359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Content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9410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Official endorsement and collaborative content expansion — culture tips, idiomatic expressions, regional variation.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471416"/>
            <a:ext cx="53035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469087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45537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Funding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011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App Store launch costs, infrastructure, and continued content development.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431536"/>
            <a:ext cx="53035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565099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5138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Institutional Reach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861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Distribution through ZLS networks, integration courses and language promotion channels.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6391656"/>
            <a:ext cx="530352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cene_village_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07642"/>
            <a:ext cx="6885432" cy="34427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ene_village_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07642"/>
            <a:ext cx="6885432" cy="34427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0" y="0"/>
            <a:ext cx="548640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C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502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LuxLingo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31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BD5E1"/>
                </a:solidFill>
              </a:rPr>
              <a:t>Making Lëtzebuergesch
accessible to everyone.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3159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</a:rPr>
              <a:t>vinayarun@gmail.com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773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349240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CA3AF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1310</Words>
  <Application>Microsoft Macintosh PowerPoint</Application>
  <PresentationFormat>Custom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Nandita V</cp:lastModifiedBy>
  <cp:revision>5</cp:revision>
  <dcterms:created xsi:type="dcterms:W3CDTF">2013-01-27T09:14:16Z</dcterms:created>
  <dcterms:modified xsi:type="dcterms:W3CDTF">2026-05-17T05:36:13Z</dcterms:modified>
  <cp:category/>
</cp:coreProperties>
</file>