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96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6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0F0F1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96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4000" y="1007999"/>
            <a:ext cx="1980000" cy="216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2000" y="1026000"/>
            <a:ext cx="187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0F1A"/>
                </a:solidFill>
              </a:rPr>
              <a:t>TECHNICAL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1440000"/>
            <a:ext cx="90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LuxLingo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000" y="2736000"/>
            <a:ext cx="162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2880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</a:rPr>
              <a:t>iOS App for Luxembourgish Language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000" y="3671999"/>
            <a:ext cx="1296000" cy="27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000" y="3700800"/>
            <a:ext cx="12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Swift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50000" y="3671999"/>
            <a:ext cx="1296000" cy="27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000" y="3700800"/>
            <a:ext cx="12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SwiftUI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36000" y="3671999"/>
            <a:ext cx="1296000" cy="270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0000" y="3700800"/>
            <a:ext cx="12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SwiftData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2000" y="3671999"/>
            <a:ext cx="1296000" cy="27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6000" y="3700800"/>
            <a:ext cx="12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AVFoundation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8000" y="3671999"/>
            <a:ext cx="1296000" cy="270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2000" y="3700800"/>
            <a:ext cx="12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MVVM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000" y="5940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96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000" y="576000"/>
            <a:ext cx="1620000" cy="234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612000"/>
            <a:ext cx="15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007999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800000"/>
            <a:ext cx="3528000" cy="136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6000" y="1800000"/>
            <a:ext cx="3528000" cy="7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944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34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Swift 5.9 / iOS 17+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2627999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Language &amp; platform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5999" y="1800000"/>
            <a:ext cx="3528000" cy="136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35999" y="1800000"/>
            <a:ext cx="3528000" cy="7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9999" y="1944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9999" y="234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SwiftUI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9999" y="2627999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Declarative, reactive UI framework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15998" y="1800000"/>
            <a:ext cx="3528000" cy="136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5998" y="1800000"/>
            <a:ext cx="3528000" cy="72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9998" y="1944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9998" y="234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SwiftData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9998" y="2627999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Local persistence — replaces CoreData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6000" y="3384000"/>
            <a:ext cx="3528000" cy="136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6000" y="3384000"/>
            <a:ext cx="3528000" cy="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000" y="3528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🎙️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000" y="3924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AVFoundation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000" y="4211999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Audio recording &amp; playback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999" y="3384000"/>
            <a:ext cx="3528000" cy="136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35999" y="3384000"/>
            <a:ext cx="3528000" cy="72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9999" y="3528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9999" y="3924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Swift Concurrency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9999" y="4211999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async/await · TaskGroup · @MainActor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15998" y="3384000"/>
            <a:ext cx="3528000" cy="136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15998" y="3384000"/>
            <a:ext cx="3528000" cy="72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9998" y="3528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✉️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9998" y="3924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MessageUI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9998" y="4211999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In-app feedback email composition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6000" y="4968000"/>
            <a:ext cx="3528000" cy="136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6000" y="4968000"/>
            <a:ext cx="3528000" cy="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000" y="5112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000" y="550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Charts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000" y="5795999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Progress visualisations &amp; coverage graphs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96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000" y="576000"/>
            <a:ext cx="1620000" cy="234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612000"/>
            <a:ext cx="15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007999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App Architecture — MVVM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000" y="324000"/>
            <a:ext cx="10440000" cy="936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000" y="324000"/>
            <a:ext cx="90000" cy="9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4000" y="414000"/>
            <a:ext cx="1980000" cy="18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000" y="424800"/>
            <a:ext cx="190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0F1A"/>
                </a:solidFill>
              </a:rPr>
              <a:t>VIEW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2000" y="4032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SwiftUI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4000" y="684000"/>
            <a:ext cx="101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HomeScreen · ExerciseScreen · LessonSummaryScreen
UnitCardView · WordLookupCard · ProgressView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000" y="1440000"/>
            <a:ext cx="10440000" cy="936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4000" y="1440000"/>
            <a:ext cx="90000" cy="936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4000" y="1530000"/>
            <a:ext cx="1980000" cy="18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1540800"/>
            <a:ext cx="190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0F1A"/>
                </a:solidFill>
              </a:rPr>
              <a:t>VIEWMODEL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2000" y="15192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Business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4000" y="1800000"/>
            <a:ext cx="101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ExerciseViewModel (@MainActor @Observable)
MainViewModel (@MainActor @Observable)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000" y="2556000"/>
            <a:ext cx="10440000" cy="936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4000" y="2556000"/>
            <a:ext cx="90000" cy="936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44000" y="2646000"/>
            <a:ext cx="1980000" cy="180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0000" y="2656800"/>
            <a:ext cx="190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0F1A"/>
                </a:solidFill>
              </a:rPr>
              <a:t>REPOSITORY / MODEL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2000" y="26352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4000" y="2916000"/>
            <a:ext cx="101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ContentRepository → DatabaseManager → SwiftData ModelContext
CurriculumEntity · VocabularyEntity · SensesEntity · UserProgressEntity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000" y="3671999"/>
            <a:ext cx="10440000" cy="936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4000" y="3671999"/>
            <a:ext cx="90000" cy="93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4000" y="3761999"/>
            <a:ext cx="1980000" cy="18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0000" y="3772799"/>
            <a:ext cx="190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0F1A"/>
                </a:solidFill>
              </a:rPr>
              <a:t>SERVICES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32000" y="3751199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Cross-cutting Concerns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4000" y="4031999"/>
            <a:ext cx="101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TTSService · PronunciationService · WordLookupService · AudioFeedbackService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80000" y="1267200"/>
            <a:ext cx="540000" cy="125999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4000" y="1285200"/>
            <a:ext cx="936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▼ User → ViewModel → Repository → SwiftData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80000" y="2383200"/>
            <a:ext cx="540000" cy="125999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4000" y="2401200"/>
            <a:ext cx="936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▼ User → ViewModel → Repository → SwiftData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80000" y="3499200"/>
            <a:ext cx="540000" cy="125999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4000" y="3517200"/>
            <a:ext cx="936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▼ User → ViewModel → Repository → SwiftData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000" y="4752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Data flow: User interaction → ViewModel → Repository → SwiftData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96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000" y="576000"/>
            <a:ext cx="1620000" cy="234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612000"/>
            <a:ext cx="15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007999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SwiftData Schema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1800000"/>
            <a:ext cx="3240000" cy="180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000" y="1800000"/>
            <a:ext cx="3240000" cy="251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1836000"/>
            <a:ext cx="31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VocabularyEntity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2059200"/>
            <a:ext cx="3240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2000" y="2124000"/>
            <a:ext cx="28800" cy="115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000" y="21060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surface_id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2000" y="2106000"/>
            <a:ext cx="57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F5A623"/>
                </a:solidFill>
              </a:rPr>
              <a:t>(PK)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" y="23472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000" y="23292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lemma_id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25704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000" y="25524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word_lu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000" y="27936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000" y="27756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gender / pos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30168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000" y="29988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lod_audio_url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8000" y="1800000"/>
            <a:ext cx="3240000" cy="180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48000" y="1800000"/>
            <a:ext cx="3240000" cy="25199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0000" y="1836000"/>
            <a:ext cx="31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SensesEntity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000" y="2059200"/>
            <a:ext cx="3240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0000" y="2124000"/>
            <a:ext cx="28800" cy="115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92000" y="21060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surface_id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0000" y="2106000"/>
            <a:ext cx="57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3B82F6"/>
                </a:solidFill>
              </a:rPr>
              <a:t>(FK)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0" y="2347200"/>
            <a:ext cx="28800" cy="115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92000" y="23292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sense_id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0000" y="2329200"/>
            <a:ext cx="57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3B82F6"/>
                </a:solidFill>
              </a:rPr>
              <a:t>(PK)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0" y="25704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92000" y="25524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translations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0" y="27936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2000" y="27756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0" y="30168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92000" y="29988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is_golden_key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0000" y="32400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92000" y="32220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paradigm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40000" y="3222000"/>
            <a:ext cx="57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3B82F6"/>
                </a:solidFill>
              </a:rPr>
              <a:t>(JSON)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6000" y="1800000"/>
            <a:ext cx="3240000" cy="180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6000" y="1800000"/>
            <a:ext cx="3240000" cy="25199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48000" y="1836000"/>
            <a:ext cx="31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SentencesEntity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6000" y="2059200"/>
            <a:ext cx="3240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48000" y="2124000"/>
            <a:ext cx="28800" cy="115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20000" y="21060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sentence_id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68000" y="2106000"/>
            <a:ext cx="57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4CAF50"/>
                </a:solidFill>
              </a:rPr>
              <a:t>(PK)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48000" y="23472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20000" y="23292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text_lu / text_en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48000" y="25704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20000" y="25524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sense_ids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68000" y="2552400"/>
            <a:ext cx="57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4CAF50"/>
                </a:solidFill>
              </a:rPr>
              <a:t>(CSV)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48000" y="27936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20000" y="27756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cloze_index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48000" y="30168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20000" y="29988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exact_form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48000" y="32400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20000" y="32220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difficulty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0000" y="3816000"/>
            <a:ext cx="3240000" cy="180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20000" y="3816000"/>
            <a:ext cx="3240000" cy="25199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2000" y="3852000"/>
            <a:ext cx="31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CurriculumEntity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0000" y="4075200"/>
            <a:ext cx="3240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92000" y="4140000"/>
            <a:ext cx="28800" cy="115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000" y="41220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lesson_id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12000" y="4122000"/>
            <a:ext cx="57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C3AED"/>
                </a:solidFill>
              </a:rPr>
              <a:t>(PK)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2000" y="43632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4000" y="43452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title_en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2000" y="45864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4000" y="45684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core_senses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12000" y="4568400"/>
            <a:ext cx="57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C3AED"/>
                </a:solidFill>
              </a:rPr>
              <a:t>(CSV)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2000" y="48096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4000" y="47916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lesson_type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2000" y="50328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4000" y="50148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unit_index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48000" y="3816000"/>
            <a:ext cx="3240000" cy="180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48000" y="3816000"/>
            <a:ext cx="3240000" cy="251999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20000" y="3852000"/>
            <a:ext cx="31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LessonStatusEntity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48000" y="4075200"/>
            <a:ext cx="3240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320000" y="4140000"/>
            <a:ext cx="28800" cy="115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92000" y="41220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lesson_id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0000" y="4122000"/>
            <a:ext cx="57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EC4899"/>
                </a:solidFill>
              </a:rPr>
              <a:t>(PK)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20000" y="43632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92000" y="43452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is_completed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20000" y="45864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92000" y="45684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has_started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320000" y="48096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92000" y="47916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mastery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320000" y="50328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392000" y="50148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completion_pct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776000" y="3816000"/>
            <a:ext cx="3240000" cy="180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76000" y="3816000"/>
            <a:ext cx="3240000" cy="25199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848000" y="3852000"/>
            <a:ext cx="31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UserProgressEntity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776000" y="4075200"/>
            <a:ext cx="3240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848000" y="4140000"/>
            <a:ext cx="28800" cy="115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20000" y="41220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composite_key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68000" y="4122000"/>
            <a:ext cx="57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06B6D4"/>
                </a:solidFill>
              </a:rPr>
              <a:t>(PK)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848000" y="43632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920000" y="43452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sense_id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848000" y="45864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920000" y="45684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mastery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68000" y="4568400"/>
            <a:ext cx="57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06B6D4"/>
                </a:solidFill>
              </a:rPr>
              <a:t>0–20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848000" y="48096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20000" y="47916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exposure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848000" y="5032800"/>
            <a:ext cx="28800" cy="115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920000" y="5014800"/>
            <a:ext cx="19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cloze_exposure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20000" y="5940000"/>
            <a:ext cx="10728000" cy="216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27999" y="5958000"/>
            <a:ext cx="105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SwiftData: automatic lightweight migration via class-body property defaults for new fields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96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000" y="576000"/>
            <a:ext cx="1620000" cy="234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612000"/>
            <a:ext cx="15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007999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Content Data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000" y="1872000"/>
            <a:ext cx="2520000" cy="162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000" y="1872000"/>
            <a:ext cx="2520000" cy="9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2000" y="2016000"/>
            <a:ext cx="23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Lemma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2000" y="2358000"/>
            <a:ext cx="2304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2000" y="2448000"/>
            <a:ext cx="23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"sinn"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000" y="2520000"/>
            <a:ext cx="25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0" y="1872000"/>
            <a:ext cx="2520000" cy="162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00000" y="1872000"/>
            <a:ext cx="2520000" cy="9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8000" y="2016000"/>
            <a:ext cx="23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Surface 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8000" y="2358000"/>
            <a:ext cx="2304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8000" y="2448000"/>
            <a:ext cx="23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</a:rPr>
              <a:t>"sinn"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4000" y="2520000"/>
            <a:ext cx="25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6000" y="1872000"/>
            <a:ext cx="2520000" cy="162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6000" y="1872000"/>
            <a:ext cx="2520000" cy="90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4000" y="2016000"/>
            <a:ext cx="23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4000" y="2358000"/>
            <a:ext cx="2304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4000" y="2448000"/>
            <a:ext cx="23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"s_sinn_1 — be"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0000" y="2520000"/>
            <a:ext cx="25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72000" y="1872000"/>
            <a:ext cx="2520000" cy="162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72000" y="1872000"/>
            <a:ext cx="2520000" cy="9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0000" y="2016000"/>
            <a:ext cx="23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Sentence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0000" y="2358000"/>
            <a:ext cx="2304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000" y="2448000"/>
            <a:ext cx="23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3AED"/>
                </a:solidFill>
              </a:rPr>
              <a:t>"Ech sinn do."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000" y="3780000"/>
            <a:ext cx="5040000" cy="72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4000" y="3780000"/>
            <a:ext cx="72000" cy="7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000" y="3852000"/>
            <a:ext cx="48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Vocabulary stores base 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000" y="4104000"/>
            <a:ext cx="48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surface_id links vocabulary → senses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999" y="3780000"/>
            <a:ext cx="5040000" cy="72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999" y="3780000"/>
            <a:ext cx="72000" cy="720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7999" y="3852000"/>
            <a:ext cx="48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Sentences store inflected forms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7999" y="4104000"/>
            <a:ext cx="48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cloze_index marks which token is blank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4000" y="4644000"/>
            <a:ext cx="5040000" cy="72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4000" y="4644000"/>
            <a:ext cx="72000" cy="7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8000" y="4716000"/>
            <a:ext cx="48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Conjugated verbs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8000" y="4968000"/>
            <a:ext cx="48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exact_form=false means the sentence uses a conjugated form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999" y="4644000"/>
            <a:ext cx="5040000" cy="72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999" y="4644000"/>
            <a:ext cx="72000" cy="72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7999" y="4716000"/>
            <a:ext cx="482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Article exercises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7999" y="4968000"/>
            <a:ext cx="48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sense_ids (CSV) links sentences → senses for multi-sense lookup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4000" y="5652000"/>
            <a:ext cx="2015999" cy="64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000" y="5688000"/>
            <a:ext cx="201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468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000" y="6012000"/>
            <a:ext cx="2015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vocabulary entries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87999" y="5652000"/>
            <a:ext cx="2015999" cy="64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87999" y="5688000"/>
            <a:ext cx="201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469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87999" y="6012000"/>
            <a:ext cx="2015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senses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1998" y="5652000"/>
            <a:ext cx="2015999" cy="64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11998" y="5688000"/>
            <a:ext cx="201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7,662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11998" y="6012000"/>
            <a:ext cx="2015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sentences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35997" y="5652000"/>
            <a:ext cx="2015999" cy="64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35997" y="5688000"/>
            <a:ext cx="201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70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35997" y="6012000"/>
            <a:ext cx="2015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lessons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59996" y="5652000"/>
            <a:ext cx="2015999" cy="64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59996" y="5688000"/>
            <a:ext cx="201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59996" y="6012000"/>
            <a:ext cx="2015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article exercises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96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000" y="576000"/>
            <a:ext cx="1620000" cy="234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612000"/>
            <a:ext cx="15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007999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Exercise Selection Algorithm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000" y="1835999"/>
            <a:ext cx="4860000" cy="756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000" y="1835999"/>
            <a:ext cx="324000" cy="756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2015999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1907999"/>
            <a:ext cx="43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Load lesson senses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2195999"/>
            <a:ext cx="43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Read core_senses CSV from CurriculumEntity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2000" y="1835999"/>
            <a:ext cx="4860000" cy="756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2000" y="1835999"/>
            <a:ext cx="324000" cy="75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2000" y="2015999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8000" y="1907999"/>
            <a:ext cx="43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Prioritise unmastered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8000" y="2195999"/>
            <a:ext cx="43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mastery &lt; 1 → unintroduced words come first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000" y="2717998"/>
            <a:ext cx="4860000" cy="756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4000" y="2717998"/>
            <a:ext cx="324000" cy="756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000" y="2897998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0000" y="2789998"/>
            <a:ext cx="43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Select target sense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0000" y="3077998"/>
            <a:ext cx="43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Fetch matching sentences for chosen sense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2000" y="2717998"/>
            <a:ext cx="4860000" cy="756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2000" y="2717998"/>
            <a:ext cx="324000" cy="75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2000" y="2897998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8000" y="2789998"/>
            <a:ext cx="43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Filter by difficulty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8000" y="3077998"/>
            <a:ext cx="43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Lesson number controls simple/intermediate/advanced sentences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000" y="3599997"/>
            <a:ext cx="4860000" cy="756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4000" y="3599997"/>
            <a:ext cx="324000" cy="756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000" y="3779997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000" y="3671997"/>
            <a:ext cx="43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Apply recency buffer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0000" y="3959997"/>
            <a:ext cx="43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Exclude last 8 seen sentences per sense (prevents repetition)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2000" y="3599997"/>
            <a:ext cx="4860000" cy="756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2000" y="3599997"/>
            <a:ext cx="324000" cy="756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2000" y="3779997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8000" y="3671997"/>
            <a:ext cx="43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Exact-form preference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8000" y="3959997"/>
            <a:ext cx="43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Lessons ≤4: prefer exact_form=true (no conjugation surprise)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000" y="4481996"/>
            <a:ext cx="4860000" cy="756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4000" y="4481996"/>
            <a:ext cx="324000" cy="75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000" y="4661996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0000" y="4553996"/>
            <a:ext cx="43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Conjugation detection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60000" y="4841996"/>
            <a:ext cx="43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Conjugated verbs → trigger ConjugationMatch exercise type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2000" y="4481996"/>
            <a:ext cx="4860000" cy="756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2000" y="4481996"/>
            <a:ext cx="324000" cy="756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2000" y="4661996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8000" y="4553996"/>
            <a:ext cx="43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Mastery scoring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8000" y="4841996"/>
            <a:ext cx="43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Correct +2 · Wrong −1 · Cloze bonus · Cap at 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24000" y="2141999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24000" y="3023998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24000" y="3905997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24000" y="4787996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96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000" y="576000"/>
            <a:ext cx="1620000" cy="234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612000"/>
            <a:ext cx="15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EXERCISE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007999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10 Exercise Types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1800000"/>
            <a:ext cx="2196000" cy="108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000" y="1800000"/>
            <a:ext cx="21960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" y="1908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" y="2268000"/>
            <a:ext cx="20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Reading / Flashcard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000" y="2520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See sentence, recall meaning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0000" y="1800000"/>
            <a:ext cx="2196000" cy="108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0000" y="1800000"/>
            <a:ext cx="2196000" cy="64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68000" y="1908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☑️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8000" y="2268000"/>
            <a:ext cx="20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Multiple 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8000" y="2520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Pick correct English translation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0" y="1800000"/>
            <a:ext cx="2196000" cy="108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0" y="1800000"/>
            <a:ext cx="2196000" cy="64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8000" y="1908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8000" y="2268000"/>
            <a:ext cx="20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Cloze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8000" y="2520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Type the missing Luxembourgish word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40000" y="1800000"/>
            <a:ext cx="2196000" cy="108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40000" y="1800000"/>
            <a:ext cx="2196000" cy="6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8000" y="1908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8000" y="2268000"/>
            <a:ext cx="20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Audio Dictation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8000" y="2520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Hear word, type it in Luxembourgish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80000" y="1800000"/>
            <a:ext cx="2196000" cy="108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80000" y="1800000"/>
            <a:ext cx="2196000" cy="64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88000" y="1908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8000" y="2268000"/>
            <a:ext cx="20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Jumbled Sentence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8000" y="2520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Reorder tokens to form correct sentence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" y="3024000"/>
            <a:ext cx="2196000" cy="108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0000" y="3024000"/>
            <a:ext cx="2196000" cy="64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000" y="3132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000" y="3492000"/>
            <a:ext cx="20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Listening Comprehension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000" y="3744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Hear word, pick meaning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0000" y="3024000"/>
            <a:ext cx="2196000" cy="108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60000" y="3024000"/>
            <a:ext cx="2196000" cy="6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68000" y="3132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68000" y="3492000"/>
            <a:ext cx="20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Conjugation Match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68000" y="3744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Identify verb from conjugated form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00000" y="3024000"/>
            <a:ext cx="2196000" cy="108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00000" y="3024000"/>
            <a:ext cx="2196000" cy="64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08000" y="3132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🎙️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08000" y="3492000"/>
            <a:ext cx="20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Pronunciation Practice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8000" y="3744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Speak into mic, scored by LuxASR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40000" y="3024000"/>
            <a:ext cx="2196000" cy="108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40000" y="3024000"/>
            <a:ext cx="2196000" cy="64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48000" y="3132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48000" y="3492000"/>
            <a:ext cx="20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N-Rule Hunter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48000" y="3744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Identify correct article (de/den/d')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80000" y="3024000"/>
            <a:ext cx="2196000" cy="108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080000" y="3024000"/>
            <a:ext cx="21960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88000" y="3132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🏷️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88000" y="3492000"/>
            <a:ext cx="20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Article Choice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88000" y="3744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Pick correct definite article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4000" y="4320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Variety prevents boredom — exercises are dynamically selected based on mastery level and lesson progress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96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000" y="576000"/>
            <a:ext cx="1620000" cy="234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612000"/>
            <a:ext cx="15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007999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Query Optimisation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000" y="1800000"/>
            <a:ext cx="5040000" cy="414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000" y="1800000"/>
            <a:ext cx="5040000" cy="30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2000" y="1835999"/>
            <a:ext cx="48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BEFORE  — Slow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7999" y="2239200"/>
            <a:ext cx="43200" cy="12599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000" y="2196000"/>
            <a:ext cx="46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loadUnits() made 1,000+ individual SwiftData queries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7999" y="2671200"/>
            <a:ext cx="43200" cy="12599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000" y="2628000"/>
            <a:ext cx="46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Per-lesson: getCurriculum + getSense ×7
  + getVocabulary ×3 + getMastery ×7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7999" y="3103200"/>
            <a:ext cx="43200" cy="12599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000" y="3060000"/>
            <a:ext cx="46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Hamburger menu triggered sentence selection
  for ALL encountered words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7999" y="3535200"/>
            <a:ext cx="43200" cy="12599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000" y="3492000"/>
            <a:ext cx="46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Scrolling triggered vocab query per visible unit card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7999" y="3967200"/>
            <a:ext cx="43200" cy="12599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000" y="3924000"/>
            <a:ext cx="46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Result: noticeable lag opening menu &amp; navigating units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8000" y="1800000"/>
            <a:ext cx="5040000" cy="414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8000" y="1800000"/>
            <a:ext cx="5040000" cy="306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6000" y="1835999"/>
            <a:ext cx="48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AFTER  — Optimised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2000" y="2239200"/>
            <a:ext cx="43200" cy="12599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6000" y="2196000"/>
            <a:ext cx="460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CAF50"/>
                </a:solidFill>
              </a:rPr>
              <a:t>5 bulk fetches → in-memory dictionaries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2000" y="2635200"/>
            <a:ext cx="43200" cy="12599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6000" y="2592000"/>
            <a:ext cx="460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getAllCurriculum() + getAllSenses()
  + getAllVocabulary() + getAllUserProgress()
  + getAllLessonStatuses()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2000" y="3103200"/>
            <a:ext cx="43200" cy="12599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6000" y="3060000"/>
            <a:ext cx="460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Vocab cache built in-memory from bulk data
  (no sentence selection queries on load)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2000" y="3571200"/>
            <a:ext cx="43200" cy="12599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6000" y="3528000"/>
            <a:ext cx="460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Unit card vocab loaded lazily only on tap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2000" y="3967200"/>
            <a:ext cx="43200" cy="12599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6000" y="3924000"/>
            <a:ext cx="460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CAF50"/>
                </a:solidFill>
              </a:rPr>
              <a:t>Result: loadUnits() &lt;50ms, menu opens instantly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000" y="3780000"/>
            <a:ext cx="5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623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96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000" y="576000"/>
            <a:ext cx="1620000" cy="234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612000"/>
            <a:ext cx="15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007999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External APIs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1800000"/>
            <a:ext cx="2520000" cy="342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000" y="1800000"/>
            <a:ext cx="25200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" y="1925999"/>
            <a:ext cx="23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Sproochmaschinn.lu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8000" y="2213999"/>
            <a:ext cx="2304000" cy="16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000" y="2232000"/>
            <a:ext cx="2268001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F1A"/>
                </a:solidFill>
              </a:rPr>
              <a:t>Text-to-Speech (TTS)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000" y="2448000"/>
            <a:ext cx="2304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8000" y="2599200"/>
            <a:ext cx="36000" cy="10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000" y="2556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POST /api/session → session 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000" y="3067200"/>
            <a:ext cx="36000" cy="10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6000" y="3024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POST /api/tts/{session} → request_id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8000" y="3535200"/>
            <a:ext cx="36000" cy="10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000" y="3492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GET /api/result/{request_id} → base64 WAV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8000" y="4003200"/>
            <a:ext cx="36000" cy="10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000" y="3960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Polled every 1s · max 25 attempts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8000" y="4471200"/>
            <a:ext cx="36000" cy="10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000" y="4428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Used for: natural Luxembourgish speech in exercises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56000" y="1800000"/>
            <a:ext cx="2520000" cy="342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56000" y="1800000"/>
            <a:ext cx="2520000" cy="64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4000" y="1925999"/>
            <a:ext cx="23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LOD.lu Dictionary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4000" y="2213999"/>
            <a:ext cx="2304000" cy="16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0000" y="2232000"/>
            <a:ext cx="2268001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F1A"/>
                </a:solidFill>
              </a:rPr>
              <a:t>Word Lookup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4000" y="2448000"/>
            <a:ext cx="2304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64000" y="2599200"/>
            <a:ext cx="36000" cy="10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2000" y="2556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GET /api/en/search?query={word}&amp;lang=lb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4000" y="3067200"/>
            <a:ext cx="36000" cy="10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72000" y="3024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GET /api/en/entry/{article_id}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4000" y="3535200"/>
            <a:ext cx="36000" cy="10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2000" y="3492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Returns: translations, POS, microStructures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4000" y="4003200"/>
            <a:ext cx="36000" cy="10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72000" y="3960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Swift TaskGroup → parallel multi-article fetch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4000" y="4471200"/>
            <a:ext cx="36000" cy="10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72000" y="4428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Verbs excluded (compound title audio artefact)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2000" y="1800000"/>
            <a:ext cx="2520000" cy="342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92000" y="1800000"/>
            <a:ext cx="2520000" cy="64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0000" y="1925999"/>
            <a:ext cx="23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LuxASR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0000" y="2213999"/>
            <a:ext cx="2304000" cy="162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6000" y="2232000"/>
            <a:ext cx="2268001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F1A"/>
                </a:solidFill>
              </a:rPr>
              <a:t>Pronunciation Scoring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0000" y="2448000"/>
            <a:ext cx="2304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0000" y="2599200"/>
            <a:ext cx="36000" cy="10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8000" y="2556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Records 16kHz mono PCM WAV via AVAudioRecorder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0000" y="3067200"/>
            <a:ext cx="36000" cy="10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8000" y="3024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Scores pronunciation against reference text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0000" y="3535200"/>
            <a:ext cx="36000" cy="10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8000" y="3492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Returns 0–100% accuracy score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0000" y="4003200"/>
            <a:ext cx="36000" cy="10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8000" y="3960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Used for: Pronunciation Practice exercise feedback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0000" y="4471200"/>
            <a:ext cx="36000" cy="10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8000" y="4428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Developed at University of Luxembourg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28000" y="1800000"/>
            <a:ext cx="2520000" cy="342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28000" y="1800000"/>
            <a:ext cx="2520000" cy="6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36000" y="1925999"/>
            <a:ext cx="23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LuxMT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36000" y="2213999"/>
            <a:ext cx="2304000" cy="16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72000" y="2232000"/>
            <a:ext cx="2268001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F1A"/>
                </a:solidFill>
              </a:rPr>
              <a:t>Machine Translation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36000" y="2448000"/>
            <a:ext cx="2304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036000" y="2599200"/>
            <a:ext cx="36000" cy="10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0" y="2556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Luxembourgish ↔ English translation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36000" y="3067200"/>
            <a:ext cx="36000" cy="10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0" y="3024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Used in content pipeline (offline, not runtime)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36000" y="3535200"/>
            <a:ext cx="36000" cy="10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0" y="3492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Generates &amp; validates sentence translations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36000" y="4003200"/>
            <a:ext cx="36000" cy="10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44000" y="3960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Batch processing for 7,662 sentence corpus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36000" y="4471200"/>
            <a:ext cx="36000" cy="10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4000" y="4428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Luxembourg government research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96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000" y="576000"/>
            <a:ext cx="1620000" cy="234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612000"/>
            <a:ext cx="15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AUDIO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007999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Audio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1800000"/>
            <a:ext cx="3456000" cy="360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000" y="1800000"/>
            <a:ext cx="3456000" cy="79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999" y="1944000"/>
            <a:ext cx="32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TTSService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999" y="2213999"/>
            <a:ext cx="32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A623"/>
                </a:solidFill>
              </a:rPr>
              <a:t>Singleton · @MainActor · @Observable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8000" y="2430000"/>
            <a:ext cx="3240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5999" y="2599200"/>
            <a:ext cx="36000" cy="10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000" y="2556000"/>
            <a:ext cx="31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AVAudioSession: .playback + .duckOthers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999" y="3013199"/>
            <a:ext cx="36000" cy="10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000" y="2969999"/>
            <a:ext cx="31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PlayState enum: idle → loading → playing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999" y="3427198"/>
            <a:ext cx="36000" cy="10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000" y="3383998"/>
            <a:ext cx="31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Deactivates silently (no notifyOthersOnDeactivation)
  — avoids interrupting car radio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999" y="3967198"/>
            <a:ext cx="36000" cy="10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4000" y="3923998"/>
            <a:ext cx="31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Verb POS detection: verbs use TTS;
  non-verbs use lod.lu audio (more natural)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999" y="4507198"/>
            <a:ext cx="36000" cy="10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4000" y="4463998"/>
            <a:ext cx="31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Caches audio bytes in memory per word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0000" y="1800000"/>
            <a:ext cx="3456000" cy="360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000" y="1800000"/>
            <a:ext cx="3456000" cy="79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999" y="1944000"/>
            <a:ext cx="32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PronunciationService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999" y="2213999"/>
            <a:ext cx="32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CAF50"/>
                </a:solidFill>
              </a:rPr>
              <a:t>Singleton · @MainActor · @Observable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18000" y="2430000"/>
            <a:ext cx="3240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35999" y="2599200"/>
            <a:ext cx="36000" cy="10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4000" y="2556000"/>
            <a:ext cx="31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AVAudioSession: .playAndRecord + .duckOthers
  + .defaultToSpeaker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5999" y="3139200"/>
            <a:ext cx="36000" cy="10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4000" y="3096000"/>
            <a:ext cx="31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Records to Documents/ (not temp/ — OS clears too aggressively)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35999" y="3553199"/>
            <a:ext cx="36000" cy="10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4000" y="3509999"/>
            <a:ext cx="31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AVAudioRecorder at 16kHz / 16bit / mono
  (LuxASR requirement)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5999" y="4093199"/>
            <a:ext cx="36000" cy="10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4000" y="4049999"/>
            <a:ext cx="31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Auto-stop timer with observable autoStopFired flag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5999" y="4507198"/>
            <a:ext cx="36000" cy="10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4000" y="4463998"/>
            <a:ext cx="31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Persists pending jobs across app restarts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00000" y="1800000"/>
            <a:ext cx="3456000" cy="360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00000" y="1800000"/>
            <a:ext cx="3456000" cy="79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5999" y="1944000"/>
            <a:ext cx="32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AudioFeedbackService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5999" y="2213999"/>
            <a:ext cx="32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B82F6"/>
                </a:solidFill>
              </a:rPr>
              <a:t>Lightweight feedback tones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08000" y="2430000"/>
            <a:ext cx="3240000" cy="144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5999" y="2599200"/>
            <a:ext cx="36000" cy="10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4000" y="2556000"/>
            <a:ext cx="31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Plays short SystemSound tones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5999" y="3013199"/>
            <a:ext cx="36000" cy="10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4000" y="2969999"/>
            <a:ext cx="31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Correct answer → success tone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5999" y="3427198"/>
            <a:ext cx="36000" cy="10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4000" y="3383998"/>
            <a:ext cx="31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Incorrect answer → error tone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5999" y="3841197"/>
            <a:ext cx="36000" cy="10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4000" y="3797997"/>
            <a:ext cx="31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No AVAudioSession management needed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5999" y="4255196"/>
            <a:ext cx="36000" cy="10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4000" y="4211996"/>
            <a:ext cx="31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Uses AudioServicesPlaySystemSound()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96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000" y="576000"/>
            <a:ext cx="1620000" cy="234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612000"/>
            <a:ext cx="15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WORD LOOKUP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007999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Word Lookup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000" y="1835999"/>
            <a:ext cx="10260000" cy="54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000" y="1835999"/>
            <a:ext cx="251999" cy="54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1943999"/>
            <a:ext cx="25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000" y="1879199"/>
            <a:ext cx="2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User taps 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5999" y="1889999"/>
            <a:ext cx="70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TappableLuSentenceView detects tap on any token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000" y="2440799"/>
            <a:ext cx="10260000" cy="54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4000" y="2440799"/>
            <a:ext cx="251999" cy="54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000" y="2548799"/>
            <a:ext cx="25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000" y="2483999"/>
            <a:ext cx="2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Cache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5999" y="2494799"/>
            <a:ext cx="70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WordLookupService.lookup() — checks in-memory cache first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000" y="3045599"/>
            <a:ext cx="10260000" cy="54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4000" y="3045599"/>
            <a:ext cx="251999" cy="540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000" y="3153599"/>
            <a:ext cx="25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000" y="3088799"/>
            <a:ext cx="2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Contraction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5999" y="3099599"/>
            <a:ext cx="70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"a"→"an"  ·  "am"→"an"  ·  "ass"→"sinn"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000" y="3650399"/>
            <a:ext cx="10260000" cy="54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000" y="3650399"/>
            <a:ext cx="251999" cy="54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000" y="3758399"/>
            <a:ext cx="25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000" y="3693599"/>
            <a:ext cx="2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Search API 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5999" y="3704399"/>
            <a:ext cx="70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GET /api/en/search → article ID list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000" y="4255199"/>
            <a:ext cx="10260000" cy="54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4000" y="4255199"/>
            <a:ext cx="251999" cy="540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000" y="4363199"/>
            <a:ext cx="25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000" y="4298399"/>
            <a:ext cx="2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Build article 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5999" y="4309199"/>
            <a:ext cx="70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Direct matches + base-form matches + verb-form matches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000" y="4859999"/>
            <a:ext cx="10260000" cy="54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4000" y="4859999"/>
            <a:ext cx="251999" cy="54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000" y="4967999"/>
            <a:ext cx="25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000" y="4903199"/>
            <a:ext cx="2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Parallel fetch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5999" y="4913999"/>
            <a:ext cx="70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withTaskGroup: all article entries fetched concurrently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000" y="5464799"/>
            <a:ext cx="10260000" cy="54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4000" y="5464799"/>
            <a:ext cx="251999" cy="54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000" y="5572799"/>
            <a:ext cx="25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000" y="5507999"/>
            <a:ext cx="2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Parse translations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15999" y="5518799"/>
            <a:ext cx="70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fetchTranslationsStatic: iterates ALL microStructures (not just first)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4000" y="6069599"/>
            <a:ext cx="10260000" cy="54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4000" y="6069599"/>
            <a:ext cx="251999" cy="54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4000" y="6177599"/>
            <a:ext cx="25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000" y="6112799"/>
            <a:ext cx="2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Deduplicate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15999" y="6123599"/>
            <a:ext cx="70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Returns WordLookupResult with deduplicated translations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4000" y="6674399"/>
            <a:ext cx="10260000" cy="54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4000" y="6674399"/>
            <a:ext cx="251999" cy="540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4000" y="6782399"/>
            <a:ext cx="25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000" y="6717599"/>
            <a:ext cx="2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Display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15999" y="6728399"/>
            <a:ext cx="70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WordLookupCard overlay shown with translations + audio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96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000" y="576000"/>
            <a:ext cx="1620000" cy="234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612000"/>
            <a:ext cx="15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MASTERY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007999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Spaced Repetition &amp; Mastery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000" y="1872000"/>
            <a:ext cx="497142" cy="432000"/>
          </a:xfrm>
          <a:prstGeom prst="rect">
            <a:avLst/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000" y="2376000"/>
            <a:ext cx="49714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</a:rPr>
              <a:t>Unintroduced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1674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61142" y="1872000"/>
            <a:ext cx="994285" cy="432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1142" y="2376000"/>
            <a:ext cx="994285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</a:rPr>
              <a:t>Introduced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1142" y="1674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5428" y="1872000"/>
            <a:ext cx="3480000" cy="43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5428" y="2376000"/>
            <a:ext cx="3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</a:rPr>
              <a:t>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5428" y="1674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35428" y="1872000"/>
            <a:ext cx="4971428" cy="43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5428" y="2376000"/>
            <a:ext cx="497142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</a:rPr>
              <a:t>Consolidating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5428" y="1674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06857" y="1872000"/>
            <a:ext cx="497142" cy="432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06857" y="2376000"/>
            <a:ext cx="49714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</a:rPr>
              <a:t>Mastered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6857" y="1674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24000" y="1674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CAF50"/>
                </a:solidFill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000" y="2664000"/>
            <a:ext cx="10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</a:rPr>
              <a:t>Mastery Score (0–20)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000" y="2951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Review Queue — 3 Bucket System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000" y="3348000"/>
            <a:ext cx="3240000" cy="172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4000" y="3348000"/>
            <a:ext cx="3240000" cy="79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000" y="3473999"/>
            <a:ext cx="32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F4444"/>
                </a:solidFill>
              </a:rPr>
              <a:t>60%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000" y="4032000"/>
            <a:ext cx="30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Bucket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000" y="4265999"/>
            <a:ext cx="302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Lowest mastery — words still being learned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000" y="4536000"/>
            <a:ext cx="30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Older lessons preferred (early vocab doesn't silently decay)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02000" y="3348000"/>
            <a:ext cx="3240000" cy="172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2000" y="3348000"/>
            <a:ext cx="3240000" cy="79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02000" y="3473999"/>
            <a:ext cx="32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A623"/>
                </a:solidFill>
              </a:rPr>
              <a:t>20%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6000" y="4032000"/>
            <a:ext cx="30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Bucket 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46000" y="4265999"/>
            <a:ext cx="302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Medium mastery — solidifying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6000" y="4536000"/>
            <a:ext cx="30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Older lessons preferred within bucket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40000" y="3348000"/>
            <a:ext cx="3240000" cy="172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40000" y="3348000"/>
            <a:ext cx="3240000" cy="79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40000" y="3473999"/>
            <a:ext cx="32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B82F6"/>
                </a:solidFill>
              </a:rPr>
              <a:t>20%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4000" y="4032000"/>
            <a:ext cx="30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Bucket 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4000" y="4265999"/>
            <a:ext cx="302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Random from all encountered words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4000" y="4536000"/>
            <a:ext cx="30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</a:rPr>
              <a:t>Prevents forgetting previously mastered vocabulary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96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000" y="576000"/>
            <a:ext cx="1620000" cy="234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612000"/>
            <a:ext cx="151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CONTENT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007999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Content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1620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</a:rPr>
              <a:t>Offline — not executed at runtime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000" y="1980000"/>
            <a:ext cx="1800000" cy="126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4000" y="1980000"/>
            <a:ext cx="1800000" cy="7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2124000"/>
            <a:ext cx="16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LOD.lu
Dictionary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592000"/>
            <a:ext cx="16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Vocabulary
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0" y="2538000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0" y="1980000"/>
            <a:ext cx="1800000" cy="126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000" y="1980000"/>
            <a:ext cx="1800000" cy="7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2000" y="2124000"/>
            <a:ext cx="16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Zipf's Law
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2000" y="2592000"/>
            <a:ext cx="16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Frequency
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6000" y="2538000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6000" y="1980000"/>
            <a:ext cx="1800000" cy="126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6000" y="1980000"/>
            <a:ext cx="1800000" cy="72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8000" y="2124000"/>
            <a:ext cx="16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LuxMT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8000" y="2592000"/>
            <a:ext cx="16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Translation
&amp;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2000" y="2538000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12000" y="1980000"/>
            <a:ext cx="1800000" cy="126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12000" y="1980000"/>
            <a:ext cx="1800000" cy="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84000" y="2124000"/>
            <a:ext cx="16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Lesson
Curation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4000" y="2592000"/>
            <a:ext cx="16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70 lessons
×~7 words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8000" y="2538000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28000" y="1980000"/>
            <a:ext cx="1800000" cy="1260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28000" y="1980000"/>
            <a:ext cx="1800000" cy="72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0000" y="2124000"/>
            <a:ext cx="16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initial_seed
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0000" y="2592000"/>
            <a:ext cx="16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v8.57 · 468KB
bundled in 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000" y="36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Seed File &amp; Versioning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000" y="3924000"/>
            <a:ext cx="10440000" cy="503999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4000" y="3924000"/>
            <a:ext cx="79200" cy="503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7999" y="3996000"/>
            <a:ext cx="23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initial_seed.json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000" y="3996000"/>
            <a:ext cx="77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Bundled in app bundle — loaded once on first launch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000" y="4500000"/>
            <a:ext cx="10440000" cy="503999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4000" y="4500000"/>
            <a:ext cx="79200" cy="50399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7999" y="4572000"/>
            <a:ext cx="23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Version check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6000" y="4572000"/>
            <a:ext cx="77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Version number compared on every launch — re-seed when incremented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4000" y="5076000"/>
            <a:ext cx="10440000" cy="503999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4000" y="5076000"/>
            <a:ext cx="79200" cy="50399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7999" y="5148000"/>
            <a:ext cx="23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Re-seed strategy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56000" y="5148000"/>
            <a:ext cx="77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Wipe SwiftData store + reload from new seed file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4000" y="5652000"/>
            <a:ext cx="10440000" cy="503999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4000" y="5652000"/>
            <a:ext cx="79200" cy="50399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7999" y="5724000"/>
            <a:ext cx="23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Migration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56000" y="5724000"/>
            <a:ext cx="77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SwiftData lightweight migration via class-body property defaults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6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0F0F1A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96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4000" y="864000"/>
            <a:ext cx="5760000" cy="216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8820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0F1A"/>
                </a:solidFill>
              </a:rPr>
              <a:t>ARCHITECTURE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1188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LuxLingo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1980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</a:rPr>
              <a:t>Technical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000" y="2664000"/>
            <a:ext cx="2088000" cy="792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4000" y="2664000"/>
            <a:ext cx="20880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000" y="2754000"/>
            <a:ext cx="20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~8,000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" y="3132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lines of Swift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0000" y="2664000"/>
            <a:ext cx="2088000" cy="792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0000" y="2664000"/>
            <a:ext cx="20880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0000" y="2754000"/>
            <a:ext cx="20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25+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0" y="3132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source 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6000" y="2664000"/>
            <a:ext cx="2088000" cy="792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56000" y="2664000"/>
            <a:ext cx="20880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6000" y="2754000"/>
            <a:ext cx="20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6000" y="3132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exercise types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000" y="2664000"/>
            <a:ext cx="2088000" cy="792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000" y="2664000"/>
            <a:ext cx="20880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000" y="2754000"/>
            <a:ext cx="20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7,662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000" y="3132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sentences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8000" y="2664000"/>
            <a:ext cx="2088000" cy="792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8000" y="2664000"/>
            <a:ext cx="2088000" cy="6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8000" y="2754000"/>
            <a:ext cx="20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468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8000" y="3132000"/>
            <a:ext cx="20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vocabulary items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000" y="3816000"/>
            <a:ext cx="5040000" cy="64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4000" y="3816000"/>
            <a:ext cx="79200" cy="64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6000" y="3880800"/>
            <a:ext cx="480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Zero runtime content generation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6000" y="4122000"/>
            <a:ext cx="480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All exercises derived from bundled seed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999" y="3816000"/>
            <a:ext cx="5040000" cy="64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999" y="3816000"/>
            <a:ext cx="79200" cy="64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5999" y="3880800"/>
            <a:ext cx="480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Privacy-first 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5999" y="4122000"/>
            <a:ext cx="480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No user accounts — all progress in SwiftData locally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000" y="4572000"/>
            <a:ext cx="5040000" cy="64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4000" y="4572000"/>
            <a:ext cx="79200" cy="64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000" y="4636800"/>
            <a:ext cx="480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Luxembourgish-specific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000" y="4878000"/>
            <a:ext cx="480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N-rule engine, LOD.lu integration, LuxASR scoring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999" y="4572000"/>
            <a:ext cx="5040000" cy="6480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999" y="4572000"/>
            <a:ext cx="79200" cy="64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5999" y="4636800"/>
            <a:ext cx="480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Full async/await concurrency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5999" y="4878000"/>
            <a:ext cx="480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TaskGroup for parallel API calls, @MainActor isolation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000" y="630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github.com/vinayarun/luxlingo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